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56" r:id="rId3"/>
    <p:sldId id="257" r:id="rId4"/>
    <p:sldId id="258" r:id="rId5"/>
    <p:sldId id="259" r:id="rId6"/>
    <p:sldId id="260" r:id="rId7"/>
    <p:sldId id="267" r:id="rId8"/>
    <p:sldId id="261" r:id="rId9"/>
    <p:sldId id="268" r:id="rId10"/>
    <p:sldId id="269" r:id="rId11"/>
    <p:sldId id="270" r:id="rId12"/>
    <p:sldId id="271" r:id="rId13"/>
    <p:sldId id="262" r:id="rId14"/>
    <p:sldId id="272" r:id="rId15"/>
    <p:sldId id="263" r:id="rId16"/>
    <p:sldId id="273" r:id="rId17"/>
    <p:sldId id="274" r:id="rId18"/>
    <p:sldId id="264" r:id="rId19"/>
    <p:sldId id="26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29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The image shows a bar chart comparing the distribution of fibrosis scores (1 to 4) among samples with different TP53 genotypes (wild-type and mutant).&#10;&#10;AI 產生的內容可能不正確。">
            <a:extLst>
              <a:ext uri="{FF2B5EF4-FFF2-40B4-BE49-F238E27FC236}">
                <a16:creationId xmlns:a16="http://schemas.microsoft.com/office/drawing/2014/main" id="{3A79ED64-C80F-7B02-2D3C-5F97B584A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39"/>
          <a:stretch>
            <a:fillRect/>
          </a:stretch>
        </p:blipFill>
        <p:spPr>
          <a:xfrm>
            <a:off x="6096001" y="1347791"/>
            <a:ext cx="5452532" cy="4162417"/>
          </a:xfrm>
          <a:prstGeom prst="rect">
            <a:avLst/>
          </a:prstGeom>
        </p:spPr>
      </p:pic>
      <p:pic>
        <p:nvPicPr>
          <p:cNvPr id="7" name="圖片 6" descr="The image shows a comparison of fibrosis levels in tissues, with higher levels observed in the mutant TP53 group versus the wild-type group, supported by statistical significance.&#10;&#10;AI 產生的內容可能不正確。">
            <a:extLst>
              <a:ext uri="{FF2B5EF4-FFF2-40B4-BE49-F238E27FC236}">
                <a16:creationId xmlns:a16="http://schemas.microsoft.com/office/drawing/2014/main" id="{D2AE332E-7E4F-B9DA-CEEC-2BA288AC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87" y="1051141"/>
            <a:ext cx="5790888" cy="496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5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3B56"/>
          </a:solidFill>
          <a:ln w="12700">
            <a:solidFill>
              <a:srgbClr val="183B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353312"/>
            <a:ext cx="68580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五個假說與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 err="1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分析設計整理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2953512"/>
            <a:ext cx="61264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Bulk-like DE </a:t>
            </a:r>
            <a:r>
              <a:rPr lang="en-US" sz="1520" dirty="0" err="1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做為起點</a:t>
            </a:r>
            <a:r>
              <a:rPr lang="en-US" sz="1520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</a:t>
            </a:r>
          </a:p>
          <a:p>
            <a:pPr marL="0" indent="0" algn="l">
              <a:buNone/>
            </a:pPr>
            <a:r>
              <a:rPr lang="en-US" sz="1520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DSP 的價值在於把 region、segment 與 interaction </a:t>
            </a:r>
            <a:r>
              <a:rPr lang="en-US" sz="1520" dirty="0" err="1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轉成預先定義的對比分析</a:t>
            </a:r>
            <a:r>
              <a:rPr lang="en-US" sz="1520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841248" y="406908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核心訊息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617720"/>
            <a:ext cx="51572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先定義 biological questions → 對應 model/contrast → 產生 DE table 與 ranked list → 再接 volcano、heatmap、GSEA/ORA。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543800" y="3447288"/>
            <a:ext cx="28529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 (F vs NF) × Region (INT vs PARA)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986784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1270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598664" y="4151376"/>
            <a:ext cx="12161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NF_INT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70848" y="3986784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1270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125712" y="4151376"/>
            <a:ext cx="12161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NF_PARA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4736592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F0D3CD"/>
          </a:solidFill>
          <a:ln w="1270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598664" y="4901184"/>
            <a:ext cx="12161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F_INT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70848" y="4736592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F0D3CD"/>
          </a:solidFill>
          <a:ln w="1270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125712" y="4901184"/>
            <a:ext cx="12161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F_PARA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7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4AFC2-FE59-EE58-DD79-94CBE4226CF8}"/>
              </a:ext>
            </a:extLst>
          </p:cNvPr>
          <p:cNvSpPr txBox="1"/>
          <p:nvPr/>
        </p:nvSpPr>
        <p:spPr>
          <a:xfrm>
            <a:off x="841248" y="5959366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袁章祖 2026/07/06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DSP 分析不是只有 bulk-like DE？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50392" y="167335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Bulk-like 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084832"/>
            <a:ext cx="287121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一個樣本一個 profile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Expression ~ DiseaseGroup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回答：兩組整體平均是否不同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480560" y="1536192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DDEFEA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645152" y="167335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DSP 多了 spatial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2084832"/>
            <a:ext cx="287121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 case 內有 region / AOI / segment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可以測試 region、segment 與 group interaction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8275320" y="1536192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F0D3CD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439912" y="167335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本研究的重點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9912" y="2084832"/>
            <a:ext cx="287121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Fibrosis-associated change 是否集中在 paratrabecular niche？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 compartment 是否帶有不同訊號？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005072" y="2359152"/>
            <a:ext cx="338328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7818120" y="2359152"/>
            <a:ext cx="338328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822192"/>
            <a:ext cx="105156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標準流程的核心</a:t>
            </a:r>
            <a:r>
              <a:rPr lang="zh-TW" altLang="en-US" sz="18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en-US" sz="1800" b="1" dirty="0" err="1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把預先設計的</a:t>
            </a:r>
            <a:r>
              <a:rPr lang="en-US" sz="18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region / segment </a:t>
            </a:r>
            <a:r>
              <a:rPr lang="en-US" sz="1800" b="1" dirty="0" err="1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轉成可解釋的對比</a:t>
            </a:r>
            <a:r>
              <a:rPr lang="en-US" sz="18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2304" y="5230367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DDEAF2"/>
          </a:solidFill>
          <a:ln w="1397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505456" y="5312663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H1：整體差異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35424" y="5230367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DDEFEA"/>
          </a:solidFill>
          <a:ln w="1397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608576" y="5312663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H2：Region 差異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75704" y="5230367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0D3CD"/>
          </a:solidFill>
          <a:ln w="1397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848856" y="5312663"/>
            <a:ext cx="16824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H3：region x fibrosis Interaction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05672" y="5230367"/>
            <a:ext cx="2423160" cy="384048"/>
          </a:xfrm>
          <a:prstGeom prst="roundRect">
            <a:avLst>
              <a:gd name="adj" fmla="val 23810"/>
            </a:avLst>
          </a:prstGeom>
          <a:solidFill>
            <a:srgbClr val="EEE4F2"/>
          </a:solidFill>
          <a:ln w="1397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878824" y="5312663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H4：Compartment 差異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" y="5230367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F4E3BF"/>
          </a:solidFill>
          <a:ln w="1397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23544" y="5312663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H0：組成總覽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實驗設計如何映射到分析物件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6868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41248" y="2002536"/>
            <a:ext cx="15087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A1, A2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4124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Nonfibrotic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2221992"/>
            <a:ext cx="539496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697480" y="3246120"/>
            <a:ext cx="539496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401568" y="1481328"/>
            <a:ext cx="1280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55264" y="187452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DDEAF2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364992" y="2139696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Intertrabecular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55264" y="2907792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DDEFEA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364992" y="3172968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Paratrabecular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50992" y="2221992"/>
            <a:ext cx="54864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650992" y="3246120"/>
            <a:ext cx="54864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Segment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901952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0D3CD"/>
          </a:solidFill>
          <a:ln w="1143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327648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CD45-bright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immune-enriched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217920" y="2734056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4E3BF"/>
          </a:solidFill>
          <a:ln w="1143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327648" y="2825496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CD68+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macrophage/histiocyte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ECE8F3"/>
          </a:solidFill>
          <a:ln w="1143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327648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Leftover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mixed tumor/stromal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961120" y="2615184"/>
            <a:ext cx="54864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6469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AOI replicate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46336" y="1993392"/>
            <a:ext cx="1828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524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9674352" y="2249424"/>
            <a:ext cx="15727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 Case × Region × Segment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設計上有 AOI 重覆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但不是完全獨立 cases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4709160"/>
            <a:ext cx="10104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1124712" y="4846320"/>
            <a:ext cx="9774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分析警語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24712" y="5257800"/>
            <a:ext cx="977493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 primary set 的 nonfibrotic 只有 B1；DE / interaction 可產生 ranked list 與假說，但 p value 需視為 descriptive / hypothesis-generating。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 planned hypotheses：從 composition 到 interaction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49808" y="1508760"/>
            <a:ext cx="2103120" cy="2697480"/>
          </a:xfrm>
          <a:prstGeom prst="roundRect">
            <a:avLst>
              <a:gd name="adj" fmla="val 5217"/>
            </a:avLst>
          </a:prstGeom>
          <a:solidFill>
            <a:srgbClr val="F4E3BF"/>
          </a:solidFill>
          <a:ln w="1524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18653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130552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compartment proportion 是否不同？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889504" y="2880360"/>
            <a:ext cx="13716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063240" y="1508760"/>
            <a:ext cx="2103120" cy="2697480"/>
          </a:xfrm>
          <a:prstGeom prst="roundRect">
            <a:avLst>
              <a:gd name="adj" fmla="val 5217"/>
            </a:avLst>
          </a:prstGeom>
          <a:solidFill>
            <a:srgbClr val="DDEAF2"/>
          </a:solidFill>
          <a:ln w="1524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182112" y="1673352"/>
            <a:ext cx="18653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09544" y="2130552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Overall fibrosis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bulk-like baseline fibrosis effect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202936" y="2880360"/>
            <a:ext cx="13716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376672" y="1508760"/>
            <a:ext cx="2103120" cy="2697480"/>
          </a:xfrm>
          <a:prstGeom prst="roundRect">
            <a:avLst>
              <a:gd name="adj" fmla="val 5217"/>
            </a:avLst>
          </a:prstGeom>
          <a:solidFill>
            <a:srgbClr val="DDEFEA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95544" y="1673352"/>
            <a:ext cx="18653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22976" y="2130552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Region main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59552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PARA vs INT 是否不同？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516368" y="2880360"/>
            <a:ext cx="13716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7690104" y="1508760"/>
            <a:ext cx="2103120" cy="2697480"/>
          </a:xfrm>
          <a:prstGeom prst="roundRect">
            <a:avLst>
              <a:gd name="adj" fmla="val 5217"/>
            </a:avLst>
          </a:prstGeom>
          <a:solidFill>
            <a:srgbClr val="F0D3CD"/>
          </a:solidFill>
          <a:ln w="1524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808976" y="1673352"/>
            <a:ext cx="18653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36408" y="2130552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 × Region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72984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 effect 是否特別在 PARA？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829800" y="2880360"/>
            <a:ext cx="137160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0003536" y="1508760"/>
            <a:ext cx="2103120" cy="2697480"/>
          </a:xfrm>
          <a:prstGeom prst="roundRect">
            <a:avLst>
              <a:gd name="adj" fmla="val 5217"/>
            </a:avLst>
          </a:prstGeom>
          <a:solidFill>
            <a:srgbClr val="EEE4F2"/>
          </a:solidFill>
          <a:ln w="1524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10122408" y="1673352"/>
            <a:ext cx="18653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149840" y="2130552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Compartment-specific fibrosis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86416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CD45/CD68/Leftover 各自 fibrosis effect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60120" y="4736592"/>
            <a:ext cx="101498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1143000" y="4901184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Hierarchy for reporting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5285232"/>
            <a:ext cx="9692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Primary：H3 interaction  |  Major biology：H4  |  Supporting：H2  |  Composition check：H0  |  Overview：H1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H0：Compartment abundance / composition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F4E3B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96112" y="160020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生物問題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4256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 或 paratrabecular niche 是否造成 CD45-bright、CD68+、Leftover compartment 比例改變？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4754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96112" y="292608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Parameter handling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337560"/>
            <a:ext cx="44256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FibrosisGroup：加入分析。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Region：加入分析。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SegmentLabel：作為 abundance outcome 類別，不是 adjustment。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Case/AOI：目前 descriptive；加 case 後再做更正式模型。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64922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AOI composition concept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22976" y="2157984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NF_INT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217920" y="2039112"/>
            <a:ext cx="1331366" cy="438912"/>
          </a:xfrm>
          <a:prstGeom prst="rect">
            <a:avLst/>
          </a:prstGeom>
          <a:solidFill>
            <a:srgbClr val="DDEAF2"/>
          </a:solidFill>
          <a:ln w="635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254496" y="2185416"/>
            <a:ext cx="125821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549286" y="2039112"/>
            <a:ext cx="760781" cy="438912"/>
          </a:xfrm>
          <a:prstGeom prst="rect">
            <a:avLst/>
          </a:prstGeom>
          <a:solidFill>
            <a:srgbClr val="F4E3BF"/>
          </a:solidFill>
          <a:ln w="635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310067" y="2039112"/>
            <a:ext cx="2662733" cy="438912"/>
          </a:xfrm>
          <a:prstGeom prst="rect">
            <a:avLst/>
          </a:prstGeom>
          <a:solidFill>
            <a:srgbClr val="ECE8F3"/>
          </a:solidFill>
          <a:ln w="635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346643" y="2185416"/>
            <a:ext cx="2589581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Leftover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522976" y="2907792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NF_PARA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17920" y="2788920"/>
            <a:ext cx="1141171" cy="438912"/>
          </a:xfrm>
          <a:prstGeom prst="rect">
            <a:avLst/>
          </a:prstGeom>
          <a:solidFill>
            <a:srgbClr val="DDEAF2"/>
          </a:solidFill>
          <a:ln w="635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254496" y="2935224"/>
            <a:ext cx="1068019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359091" y="2788920"/>
            <a:ext cx="1141171" cy="438912"/>
          </a:xfrm>
          <a:prstGeom prst="rect">
            <a:avLst/>
          </a:prstGeom>
          <a:solidFill>
            <a:srgbClr val="F4E3BF"/>
          </a:solidFill>
          <a:ln w="635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395667" y="2935224"/>
            <a:ext cx="1068019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CD68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500262" y="2788920"/>
            <a:ext cx="2472538" cy="438912"/>
          </a:xfrm>
          <a:prstGeom prst="rect">
            <a:avLst/>
          </a:prstGeom>
          <a:solidFill>
            <a:srgbClr val="ECE8F3"/>
          </a:solidFill>
          <a:ln w="635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536838" y="2935224"/>
            <a:ext cx="239938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Leftover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522976" y="3657600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F_INT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217920" y="3538728"/>
            <a:ext cx="1046074" cy="438912"/>
          </a:xfrm>
          <a:prstGeom prst="rect">
            <a:avLst/>
          </a:prstGeom>
          <a:solidFill>
            <a:srgbClr val="DDEAF2"/>
          </a:solidFill>
          <a:ln w="635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254496" y="3685032"/>
            <a:ext cx="97292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263994" y="3538728"/>
            <a:ext cx="1426464" cy="438912"/>
          </a:xfrm>
          <a:prstGeom prst="rect">
            <a:avLst/>
          </a:prstGeom>
          <a:solidFill>
            <a:srgbClr val="F4E3BF"/>
          </a:solidFill>
          <a:ln w="635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300570" y="3685032"/>
            <a:ext cx="13533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CD68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690458" y="3538728"/>
            <a:ext cx="2282342" cy="438912"/>
          </a:xfrm>
          <a:prstGeom prst="rect">
            <a:avLst/>
          </a:prstGeom>
          <a:solidFill>
            <a:srgbClr val="ECE8F3"/>
          </a:solidFill>
          <a:ln w="635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8727034" y="3685032"/>
            <a:ext cx="220919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Leftover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522976" y="4407408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F_PARA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217920" y="4288536"/>
            <a:ext cx="855878" cy="438912"/>
          </a:xfrm>
          <a:prstGeom prst="rect">
            <a:avLst/>
          </a:prstGeom>
          <a:solidFill>
            <a:srgbClr val="DDEAF2"/>
          </a:solidFill>
          <a:ln w="635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073798" y="4288536"/>
            <a:ext cx="1997050" cy="438912"/>
          </a:xfrm>
          <a:prstGeom prst="rect">
            <a:avLst/>
          </a:prstGeom>
          <a:solidFill>
            <a:srgbClr val="F4E3BF"/>
          </a:solidFill>
          <a:ln w="635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7110374" y="4434840"/>
            <a:ext cx="192389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CD68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9070848" y="4288536"/>
            <a:ext cx="1901952" cy="438912"/>
          </a:xfrm>
          <a:prstGeom prst="rect">
            <a:avLst/>
          </a:prstGeom>
          <a:solidFill>
            <a:srgbClr val="ECE8F3"/>
          </a:solidFill>
          <a:ln w="635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9107424" y="4434840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Leftover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172200" y="5257800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i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Purpose：分辨「某 compartment 變多」vs「同一 compartment 內 expression state 改變」。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3376E-16B6-1525-25BF-CF10F0C9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278"/>
            <a:ext cx="7292211" cy="51474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B4DC38-9C0B-AC6C-8FC0-63C1DF263C4C}"/>
              </a:ext>
            </a:extLst>
          </p:cNvPr>
          <p:cNvSpPr txBox="1"/>
          <p:nvPr/>
        </p:nvSpPr>
        <p:spPr>
          <a:xfrm>
            <a:off x="7641021" y="1082566"/>
            <a:ext cx="352263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Fibrosis vs non-fibrosis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macrophage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leftover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Paratrabecular</a:t>
            </a:r>
            <a:r>
              <a:rPr lang="en-US" dirty="0"/>
              <a:t> vs intertrabecular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difference</a:t>
            </a:r>
          </a:p>
          <a:p>
            <a:endParaRPr lang="en-US" dirty="0"/>
          </a:p>
          <a:p>
            <a:r>
              <a:rPr lang="en-US" dirty="0"/>
              <a:t>Fibrosis x region</a:t>
            </a:r>
          </a:p>
          <a:p>
            <a:r>
              <a:rPr lang="en-US" dirty="0"/>
              <a:t>* Fibrosis x para: more macrophage</a:t>
            </a:r>
          </a:p>
        </p:txBody>
      </p:sp>
    </p:spTree>
    <p:extLst>
      <p:ext uri="{BB962C8B-B14F-4D97-AF65-F5344CB8AC3E}">
        <p14:creationId xmlns:p14="http://schemas.microsoft.com/office/powerpoint/2010/main" val="1319066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 與 H4：Fibrosis effect 的兩種層次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983480" cy="1965960"/>
          </a:xfrm>
          <a:prstGeom prst="roundRect">
            <a:avLst>
              <a:gd name="adj" fmla="val 5581"/>
            </a:avLst>
          </a:prstGeom>
          <a:solidFill>
            <a:srgbClr val="DDEAF2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41832" y="164592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H1. Overall fibrosis main effect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46542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 primary segments 放在一起，先看 Fibrosis vs Nonfibrotic 的整體差異。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Region：baseline overview 中不特別處理。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Segment：baseline overview 中不分 compartment。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446520" y="1508760"/>
            <a:ext cx="4983480" cy="1965960"/>
          </a:xfrm>
          <a:prstGeom prst="roundRect">
            <a:avLst>
              <a:gd name="adj" fmla="val 5581"/>
            </a:avLst>
          </a:prstGeom>
          <a:solidFill>
            <a:srgbClr val="EEE4F2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611112" y="164592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H4. Compartment-specific fibrosis effect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6542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CD45-bright、CD68+、Leftover 各自做 Fibrosis vs Nonfibrotic。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Region：使用 region-balanced contrast。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Segment：分 compartment 分析，不混成 primary result。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583680" y="393192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784848" y="4224528"/>
            <a:ext cx="4224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0.5×(F_PARA + F_INT) − 0.5×(NF_PARA + NF_INT)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H4 interpretation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9834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compartment carries fibrosis-associated signal?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H4 is strong but H3 is weak, fibrosis effect is present but not region-specific.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07BA07-F38C-D81B-C47B-7D9728F32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5913055" cy="41739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B5C52C-345F-4A75-0BAA-8B365E7F444B}"/>
              </a:ext>
            </a:extLst>
          </p:cNvPr>
          <p:cNvSpPr txBox="1"/>
          <p:nvPr/>
        </p:nvSpPr>
        <p:spPr>
          <a:xfrm>
            <a:off x="283780" y="485947"/>
            <a:ext cx="390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H1: Overall WTA: fibrosis vs non-fibrosis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A609B4-8483-4A8D-869A-BEC42561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04481"/>
              </p:ext>
            </p:extLst>
          </p:nvPr>
        </p:nvGraphicFramePr>
        <p:xfrm>
          <a:off x="5927834" y="1739306"/>
          <a:ext cx="6264162" cy="4523976"/>
        </p:xfrm>
        <a:graphic>
          <a:graphicData uri="http://schemas.openxmlformats.org/drawingml/2006/table">
            <a:tbl>
              <a:tblPr/>
              <a:tblGrid>
                <a:gridCol w="696018">
                  <a:extLst>
                    <a:ext uri="{9D8B030D-6E8A-4147-A177-3AD203B41FA5}">
                      <a16:colId xmlns:a16="http://schemas.microsoft.com/office/drawing/2014/main" val="3611250960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2803064864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2810877458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3033345965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1008394731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2510624872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35157081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3351650758"/>
                    </a:ext>
                  </a:extLst>
                </a:gridCol>
                <a:gridCol w="696018">
                  <a:extLst>
                    <a:ext uri="{9D8B030D-6E8A-4147-A177-3AD203B41FA5}">
                      <a16:colId xmlns:a16="http://schemas.microsoft.com/office/drawing/2014/main" val="3848716979"/>
                    </a:ext>
                  </a:extLst>
                </a:gridCol>
              </a:tblGrid>
              <a:tr h="138646"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TableBlock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TargetName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log2FC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ModeratedT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PValue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FDR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DirectionForTable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VolcanoCategory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98018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AZU1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-2.975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-14.130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1.64e-22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1.53e-19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79179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PRTN3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-2.593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-13.460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2.13e-21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1.28e-18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62286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DEFA1B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-3.018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-12.380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1.48e-19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4.15e-17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98569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ELANE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-2.331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-11.300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1.16e-17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2.41e-15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50597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BIVM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-1.448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-8.970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2.23e-13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1.87e-11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69076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CTSG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-1.851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-8.932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2.64e-13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2.13e-11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1079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SPDYE2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-1.066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-8.113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9.00e-12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5.46e-10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41297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GJB2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-1.191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-7.980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1.60e-11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9.14e-10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073240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TMTC4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-1.301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-7.956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1.78e-11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1.01e-09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751103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UBXN11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-1.268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-7.939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1.90e-11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1.07e-09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935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IGHG1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4.156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18.770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1.49e-29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1.73e-25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18259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3.176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18.700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1.85e-29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1.73e-25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92350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3.404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18.530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3.25e-29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2.02e-25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43353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3.317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18.410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4.76e-29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2.22e-25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3586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TMSB4X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3.590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17.840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3.04e-28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1.14e-24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40006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GPX1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2.731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17.410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1.31e-27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4.09e-24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11098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CD74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3.376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16.520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2.75e-26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7.32e-23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150977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B2M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3.426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16.320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5.52e-26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1.29e-22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47191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2.976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15.940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2.10e-25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4.36e-22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894410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3.207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15.880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2.66e-25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4.97e-22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33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51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894715-6B10-ACE7-E4AB-0E0B89A9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913663"/>
              </p:ext>
            </p:extLst>
          </p:nvPr>
        </p:nvGraphicFramePr>
        <p:xfrm>
          <a:off x="5913055" y="1476118"/>
          <a:ext cx="6278949" cy="4523976"/>
        </p:xfrm>
        <a:graphic>
          <a:graphicData uri="http://schemas.openxmlformats.org/drawingml/2006/table">
            <a:tbl>
              <a:tblPr/>
              <a:tblGrid>
                <a:gridCol w="697661">
                  <a:extLst>
                    <a:ext uri="{9D8B030D-6E8A-4147-A177-3AD203B41FA5}">
                      <a16:colId xmlns:a16="http://schemas.microsoft.com/office/drawing/2014/main" val="364454360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2971398032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4068858506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1738877392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1587714562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3239745699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4120957090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2996828850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2614942478"/>
                    </a:ext>
                  </a:extLst>
                </a:gridCol>
              </a:tblGrid>
              <a:tr h="138646"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TableBlock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TargetName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log2FC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ModeratedT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PValue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FDR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DirectionForTable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VolcanoCategory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12762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DEFA1B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-2.803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-7.977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2.72e-09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7.05e-07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03946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PRTN3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-1.786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-7.197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2.53e-08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4.58e-06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30597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BIVM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-1.670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-7.077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3.59e-08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5.88e-06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0763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AZU1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-2.013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-7.000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4.49e-08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6.93e-06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47345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TMTC4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-1.331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-5.892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1.19e-06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1.03e-04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87382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ELANE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-1.335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-5.089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1.32e-05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7.04e-04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627897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PTBP1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-1.722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-5.083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1.34e-05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7.09e-04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0303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MPO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-1.566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-4.934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2.10e-05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9.84e-04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PRG2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-1.117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-4.859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2.62e-05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1.17e-03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29257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CTSG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-1.299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-4.790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3.22e-05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1.36e-03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067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TMSB4X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4.278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15.860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2.85e-17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5.33e-13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6501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IGHG1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4.505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15.320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8.06e-17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7.52e-13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22872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CD74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3.835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14.100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9.24e-16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5.75e-12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5923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TMSB10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3.800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13.750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1.93e-15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9.00e-12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67542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B2M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3.604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13.630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2.46e-15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9.20e-12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02709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HLA-B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3.031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12.890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1.24e-14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3.85e-11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03580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3.162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12.570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2.49e-14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6.64e-11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65454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3.423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12.240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5.31e-14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1.24e-10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466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3.176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11.930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1.08e-13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2.24e-10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28782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3.211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11.800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1.46e-13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2.65e-10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96754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8693E89-8E86-A84B-FBB7-F90444887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31428"/>
            <a:ext cx="5913054" cy="41739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1170FF-4F83-CB50-224E-FF4316DFA227}"/>
              </a:ext>
            </a:extLst>
          </p:cNvPr>
          <p:cNvSpPr txBox="1"/>
          <p:nvPr/>
        </p:nvSpPr>
        <p:spPr>
          <a:xfrm>
            <a:off x="283780" y="485947"/>
            <a:ext cx="4610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H4: CD45 segment WTA: fibrosis vs non-fibrosis</a:t>
            </a:r>
          </a:p>
        </p:txBody>
      </p:sp>
    </p:spTree>
    <p:extLst>
      <p:ext uri="{BB962C8B-B14F-4D97-AF65-F5344CB8AC3E}">
        <p14:creationId xmlns:p14="http://schemas.microsoft.com/office/powerpoint/2010/main" val="1888384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60BD-CAB2-174B-AA44-1B70B076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39F500-2F02-D060-8DF1-F2DEE0106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" y="1832785"/>
            <a:ext cx="5907409" cy="4169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ED74C9-00AE-BBC2-1F90-A92B312AE104}"/>
              </a:ext>
            </a:extLst>
          </p:cNvPr>
          <p:cNvSpPr txBox="1"/>
          <p:nvPr/>
        </p:nvSpPr>
        <p:spPr>
          <a:xfrm>
            <a:off x="283780" y="485947"/>
            <a:ext cx="4610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H4: CD68 segment WTA: fibrosis vs non-fibrosis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29D75B-E390-DA33-12A6-F60385C95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64778"/>
              </p:ext>
            </p:extLst>
          </p:nvPr>
        </p:nvGraphicFramePr>
        <p:xfrm>
          <a:off x="5913055" y="1478745"/>
          <a:ext cx="6278949" cy="4523976"/>
        </p:xfrm>
        <a:graphic>
          <a:graphicData uri="http://schemas.openxmlformats.org/drawingml/2006/table">
            <a:tbl>
              <a:tblPr/>
              <a:tblGrid>
                <a:gridCol w="697661">
                  <a:extLst>
                    <a:ext uri="{9D8B030D-6E8A-4147-A177-3AD203B41FA5}">
                      <a16:colId xmlns:a16="http://schemas.microsoft.com/office/drawing/2014/main" val="3862910997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2999851178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3611876738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1602979779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1904571368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387418194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1653193996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2042748439"/>
                    </a:ext>
                  </a:extLst>
                </a:gridCol>
                <a:gridCol w="697661">
                  <a:extLst>
                    <a:ext uri="{9D8B030D-6E8A-4147-A177-3AD203B41FA5}">
                      <a16:colId xmlns:a16="http://schemas.microsoft.com/office/drawing/2014/main" val="1923734775"/>
                    </a:ext>
                  </a:extLst>
                </a:gridCol>
              </a:tblGrid>
              <a:tr h="138646"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TableBlock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TargetName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log2FC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ModeratedT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PValue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FDR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DirectionForTable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VolcanoCategory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7555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AZU1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-2.605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-8.389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6.24e-09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3.80e-06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49997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ELANE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-2.304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-7.518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4.96e-08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1.54e-05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7883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PRTN3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-2.226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-6.967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1.94e-07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3.97e-05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47306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DEFA1B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-2.671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-6.615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4.71e-07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8.46e-05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05565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OXGR1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-1.179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-4.841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4.90e-05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3.34e-03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559660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CCDC168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-1.242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-4.364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1.74e-04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8.92e-03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826607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C1QTNF9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-1.245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-4.285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2.15e-04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1.05e-02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5705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GJB2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-1.163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-4.246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2.38e-04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1.13e-02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31750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EEF1AKMT1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-1.115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-4.208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2.63e-04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1.22e-02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10593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OR1J4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-1.155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-4.176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2.86e-04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1.29e-02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2037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IGHG1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4.266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15.210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1.34e-14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2.51e-10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740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IGKC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4.637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12.450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1.44e-12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1.34e-08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80286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3.127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10.830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3.15e-11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1.37e-07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1010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LGMN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2.777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10.830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3.16e-11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1.37e-07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88430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3.286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10.760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3.67e-11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1.37e-07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7536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10.300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9.46e-11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2.79e-07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205160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C1QC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10.250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1.04e-10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2.79e-07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471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OAZ1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3.073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10.160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1.27e-10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2.96e-07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3922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2.946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9.967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1.89e-10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3.57e-07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1886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RPL36A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2.812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9.879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2.27e-10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3.57e-07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3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73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90C9-8067-0F04-B0FA-C54AF9AF2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7CFA3B-7ACB-2898-E1B1-6B34D2528666}"/>
              </a:ext>
            </a:extLst>
          </p:cNvPr>
          <p:cNvSpPr txBox="1"/>
          <p:nvPr/>
        </p:nvSpPr>
        <p:spPr>
          <a:xfrm>
            <a:off x="283780" y="485947"/>
            <a:ext cx="484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H4: leftover segment WTA: fibrosis vs non-fibrosis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5BA21B-1D36-DBD3-24DA-9AFC7CE82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5909333" cy="417129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9ABDB4-7AD8-358A-C592-A12D6F720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823614"/>
              </p:ext>
            </p:extLst>
          </p:nvPr>
        </p:nvGraphicFramePr>
        <p:xfrm>
          <a:off x="5909333" y="1476118"/>
          <a:ext cx="6282666" cy="4523976"/>
        </p:xfrm>
        <a:graphic>
          <a:graphicData uri="http://schemas.openxmlformats.org/drawingml/2006/table">
            <a:tbl>
              <a:tblPr/>
              <a:tblGrid>
                <a:gridCol w="698074">
                  <a:extLst>
                    <a:ext uri="{9D8B030D-6E8A-4147-A177-3AD203B41FA5}">
                      <a16:colId xmlns:a16="http://schemas.microsoft.com/office/drawing/2014/main" val="3534117647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454679757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1075235272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749434830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487883687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3150807003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931267414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730496038"/>
                    </a:ext>
                  </a:extLst>
                </a:gridCol>
                <a:gridCol w="698074">
                  <a:extLst>
                    <a:ext uri="{9D8B030D-6E8A-4147-A177-3AD203B41FA5}">
                      <a16:colId xmlns:a16="http://schemas.microsoft.com/office/drawing/2014/main" val="598573380"/>
                    </a:ext>
                  </a:extLst>
                </a:gridCol>
              </a:tblGrid>
              <a:tr h="138646"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TableBlock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TargetName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log2FC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ModeratedT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PValue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FDR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DirectionForTable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TW" sz="500" b="1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VolcanoCategory</a:t>
                      </a:r>
                    </a:p>
                  </a:txBody>
                  <a:tcPr marL="33328" marR="33328" marT="33328" marB="3332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9031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AZU1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-4.305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-16.910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4.14e-17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2.99e-13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73100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PRTN3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-3.765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-16.820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4.81e-17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2.99e-13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160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ELANE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-3.354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-13.210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3.32e-14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2.82e-11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82916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CTSG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-3.090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-11.420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1.41e-12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5.05e-10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10644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DEFA1B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-3.580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-11.370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1.57e-12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5.53e-10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55104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GPR18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-2.071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-8.956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4.55e-10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6.07e-08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5997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ESRRA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-1.634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-7.911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6.70e-09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6.02e-07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400649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UBXN11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-1.792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-7.720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1.11e-08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9.19e-07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8568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GPR183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-1.742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-7.697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1.18e-08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9.70e-07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458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negative-direction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NALCN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-1.874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-7.684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1.23e-08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9.99e-07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Nonfibrotic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Negative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negative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0237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3.648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16.950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3.88e-17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2.99e-13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6682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16.230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1.31e-16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6.11e-13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15512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3.504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14.980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1.16e-15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4.20e-12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582875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RPL13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3.420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14.900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1.35e-15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4.20e-12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60988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3.181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14.520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2.68e-15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7.15e-12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632008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RPS21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3.008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14.310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4.00e-15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8.94e-12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436471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RPL37A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3.816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14.270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4.31e-15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8.94e-12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341226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IGHG1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3.698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14.150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5.38e-15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1.00e-11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151463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RPS8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2.984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14.060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6.42e-15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1.09e-11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18372"/>
                  </a:ext>
                </a:extLst>
              </a:tr>
              <a:tr h="210635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positive-direction targets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RACK1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3.716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13.790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1.07e-14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1.51e-11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Higher in Fibrosis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Positive contrast direction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TW" sz="500" b="0" i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Significant positive</a:t>
                      </a:r>
                    </a:p>
                  </a:txBody>
                  <a:tcPr marL="33328" marR="33328" marT="33328" marB="333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67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08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H2：Region main effect = PARA vs 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7273"/>
            </a:avLst>
          </a:prstGeom>
          <a:solidFill>
            <a:srgbClr val="F4E3B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41832" y="164592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H2a. Region composition effect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PARA vs INT 是否有不同 compartment abundance？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例如：paratrabecular 是否有更多 CD68+ area？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 composition analysis，不是 expression DE。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074920" cy="1508760"/>
          </a:xfrm>
          <a:prstGeom prst="roundRect">
            <a:avLst>
              <a:gd name="adj" fmla="val 7273"/>
            </a:avLst>
          </a:prstGeom>
          <a:solidFill>
            <a:srgbClr val="DDEFEA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519672" y="164592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H2b. Region expression-state effect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205740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在同一個 compartment 內，PARA vs INT 是否有 expression difference？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CD45-bright / CD68+ / Leftover 分開做。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200400" y="374904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456432" y="4041648"/>
            <a:ext cx="5340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0.5×(F_PARA − F_INT) + 0.5×(NF_PARA − NF_INT)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965960" y="5138928"/>
            <a:ext cx="8229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i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 是 H3 的前置理解：若 H2 不強但 H3 強，代表 region difference 可能只在 fibrosis context 下出現。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43D4C9-B5A4-AE98-6405-6095902E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9514"/>
            <a:ext cx="4010903" cy="28312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629596-4BB3-4420-4AEC-E8DA0EFD7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549" y="2049515"/>
            <a:ext cx="4010902" cy="2831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2E12B-142D-2B9A-9511-456ADE95D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098" y="2049515"/>
            <a:ext cx="4010902" cy="2831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E755A4-E324-B7C8-065E-D4CF09EF8B77}"/>
              </a:ext>
            </a:extLst>
          </p:cNvPr>
          <p:cNvSpPr txBox="1"/>
          <p:nvPr/>
        </p:nvSpPr>
        <p:spPr>
          <a:xfrm>
            <a:off x="283780" y="485947"/>
            <a:ext cx="712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H2: no difference between </a:t>
            </a:r>
            <a:r>
              <a:rPr lang="en-US" dirty="0" err="1"/>
              <a:t>paratrabecular</a:t>
            </a:r>
            <a:r>
              <a:rPr lang="en-US" dirty="0"/>
              <a:t> region vs intertrabecular region</a:t>
            </a:r>
          </a:p>
        </p:txBody>
      </p:sp>
    </p:spTree>
    <p:extLst>
      <p:ext uri="{BB962C8B-B14F-4D97-AF65-F5344CB8AC3E}">
        <p14:creationId xmlns:p14="http://schemas.microsoft.com/office/powerpoint/2010/main" val="3843290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H3：Fibrosis-specific paratrabecular niche effect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4480560" cy="987552"/>
          </a:xfrm>
          <a:prstGeom prst="roundRect">
            <a:avLst>
              <a:gd name="adj" fmla="val 11111"/>
            </a:avLst>
          </a:prstGeom>
          <a:solidFill>
            <a:srgbClr val="F0D3CD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029968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Fibrosis-associated transcriptomic change 是否特別集中或放大在 paratrabecular region？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448056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96112" y="2880360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Parameter handling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291840"/>
            <a:ext cx="415137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FibrosisGroup：interaction factor。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Region：interaction factor。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SegmentLabel：分 compartment 分析。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Case/AOI：pilot descriptive interaction DE；正式 inference 需要更多 cases。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598932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Nonfibrotic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3252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2679192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600200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DDEAF2"/>
          </a:solidFill>
          <a:ln w="1270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080760" y="1819656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NF_INT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2496312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DDEAF2"/>
          </a:solidFill>
          <a:ln w="1270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2715768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NF_PARA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1600200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F0D3CD"/>
          </a:solidFill>
          <a:ln w="1270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8823960" y="1819656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F_INT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32520" y="2496312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F0D3CD"/>
          </a:solidFill>
          <a:ln w="1270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823960" y="2715768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F_PARA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2267712"/>
            <a:ext cx="0" cy="155448"/>
          </a:xfrm>
          <a:prstGeom prst="line">
            <a:avLst/>
          </a:prstGeom>
          <a:noFill/>
          <a:ln w="20320">
            <a:solidFill>
              <a:srgbClr val="183B5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9692640" y="2267712"/>
            <a:ext cx="0" cy="155448"/>
          </a:xfrm>
          <a:prstGeom prst="line">
            <a:avLst/>
          </a:prstGeom>
          <a:noFill/>
          <a:ln w="20320">
            <a:solidFill>
              <a:srgbClr val="C15C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806440" y="40690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89320" y="4315968"/>
            <a:ext cx="5029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(F_PARA − F_INT) − (NF_PARA − NF_INT)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53328" y="5138928"/>
            <a:ext cx="4846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i="1" dirty="0">
                <a:solidFill>
                  <a:srgbClr val="6977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 FibrosisGroup × Region interaction，也是本設計最核心的 DSP contrast。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15CECE-2650-1B8B-6C03-C09D66F9F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215" y="2890345"/>
            <a:ext cx="3891785" cy="27471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B862B4-9014-C08B-2107-999B7139C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107" y="2890345"/>
            <a:ext cx="3891785" cy="2747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34F700-B286-9475-543D-E6D72D5E9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890345"/>
            <a:ext cx="3891785" cy="2747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1AB35E-663A-087C-57B9-7C382B59447E}"/>
              </a:ext>
            </a:extLst>
          </p:cNvPr>
          <p:cNvSpPr txBox="1"/>
          <p:nvPr/>
        </p:nvSpPr>
        <p:spPr>
          <a:xfrm>
            <a:off x="283780" y="485947"/>
            <a:ext cx="5295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H3: no difference between fibrosis x region interaction</a:t>
            </a:r>
          </a:p>
        </p:txBody>
      </p:sp>
    </p:spTree>
    <p:extLst>
      <p:ext uri="{BB962C8B-B14F-4D97-AF65-F5344CB8AC3E}">
        <p14:creationId xmlns:p14="http://schemas.microsoft.com/office/powerpoint/2010/main" val="1723208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FDBB7-38AE-1678-AD06-6F68C03AE076}"/>
              </a:ext>
            </a:extLst>
          </p:cNvPr>
          <p:cNvSpPr txBox="1"/>
          <p:nvPr/>
        </p:nvSpPr>
        <p:spPr>
          <a:xfrm>
            <a:off x="1156138" y="893380"/>
            <a:ext cx="10918887" cy="4555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Summary:</a:t>
            </a:r>
          </a:p>
          <a:p>
            <a:r>
              <a:rPr lang="en-US" dirty="0"/>
              <a:t>Positive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(H1) fibrosis vs </a:t>
            </a:r>
            <a:r>
              <a:rPr lang="en-US" dirty="0" err="1"/>
              <a:t>nonfibrosis</a:t>
            </a:r>
            <a:r>
              <a:rPr lang="en-US" dirty="0"/>
              <a:t> shows a lot of effect, but case level difference cannot be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(H4) The effects are present in different segments</a:t>
            </a:r>
          </a:p>
          <a:p>
            <a:endParaRPr lang="en-US" dirty="0"/>
          </a:p>
          <a:p>
            <a:r>
              <a:rPr lang="en-US" dirty="0"/>
              <a:t>Negative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(H2, H3) Region difference and region interaction difference shows no difference in current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800" b="1" dirty="0"/>
              <a:t>Next Step: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放棄</a:t>
            </a:r>
            <a:r>
              <a:rPr lang="en-US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因為少量case測試，未見regional</a:t>
            </a:r>
            <a:r>
              <a:rPr lang="zh-TW" altLang="en-US" dirty="0"/>
              <a:t> </a:t>
            </a:r>
            <a:r>
              <a:rPr lang="en-US" altLang="zh-TW" dirty="0"/>
              <a:t>(inter vs para)</a:t>
            </a:r>
            <a:r>
              <a:rPr lang="en-US" dirty="0"/>
              <a:t> effect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若仍認為有spatial</a:t>
            </a:r>
            <a:r>
              <a:rPr lang="en-US" dirty="0"/>
              <a:t> effect, </a:t>
            </a:r>
            <a:r>
              <a:rPr lang="en-US" dirty="0" err="1"/>
              <a:t>可能DSP</a:t>
            </a:r>
            <a:r>
              <a:rPr lang="en-US" dirty="0"/>
              <a:t> </a:t>
            </a:r>
            <a:r>
              <a:rPr lang="en-US" dirty="0" err="1"/>
              <a:t>resolutio太低？是否改為spatial</a:t>
            </a:r>
            <a:r>
              <a:rPr lang="en-US" dirty="0"/>
              <a:t> transcriptome in single cell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不放棄</a:t>
            </a:r>
            <a:r>
              <a:rPr lang="en-US" dirty="0"/>
              <a:t>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再加更多case</a:t>
            </a:r>
            <a:r>
              <a:rPr lang="en-US" dirty="0"/>
              <a:t>, </a:t>
            </a:r>
            <a:r>
              <a:rPr lang="en-US" dirty="0" err="1"/>
              <a:t>直到一定比例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3 vs 3, or 6 vs 6, …)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0981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Nested design 與目前資料的統計定位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DDEAF2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41832" y="160020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標準上需要考慮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011680"/>
            <a:ext cx="46542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 case 內有多個 AOI / region / segment，不能把所有 observations 視為完全獨立 biological cases。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F0D3CD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519672" y="160020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 pilot 限制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2011680"/>
            <a:ext cx="46542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Primary set：Fibrosis A1/A2；Nonfibrotic B1。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Nonfibrotic 只有一個 case，mixed model / case random effect 會不穩。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DDEFEA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41832" y="320040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本輪分析定位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3611880"/>
            <a:ext cx="46542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AOI-level limma planned contrasts 產生 DE / ranked list。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value / FDR：descriptive, hypothesis-generating。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可加 case-collapsed effect-size sanity check。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355080" y="3063240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F4E3B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519672" y="320040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溝通重點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3611880"/>
            <a:ext cx="46542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現在的目標是確認 signal direction、模型可行性、是否值得加 case；不是宣稱完成 case-level definitive inference。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143000" y="528523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嚴謹版本需要更多</a:t>
            </a:r>
            <a:r>
              <a:rPr lang="en-US" sz="15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cases (at least 3 vs 3)：才能把 case-level correlation 放進模型並支持正式統計推論。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AML-TP53 fibrosis DSP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Planned contrasts → DE / ranked list → downstream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0972800" cy="0"/>
          </a:xfrm>
          <a:prstGeom prst="line">
            <a:avLst/>
          </a:prstGeom>
          <a:noFill/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DEAF2"/>
          </a:solidFill>
          <a:ln w="1397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86968" y="2121408"/>
            <a:ext cx="17007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Hypothesis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H0–H4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52344" y="2350008"/>
            <a:ext cx="201168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044952" y="18745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DEFEA"/>
          </a:solidFill>
          <a:ln w="1397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154680" y="2121408"/>
            <a:ext cx="17007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 / contrast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planned coefficient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0056" y="2350008"/>
            <a:ext cx="201168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312664" y="18745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0D3CD"/>
          </a:solidFill>
          <a:ln w="13970">
            <a:solidFill>
              <a:srgbClr val="C15C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22392" y="2121408"/>
            <a:ext cx="17007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15C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log2FC, p, FDR, 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87768" y="2350008"/>
            <a:ext cx="201168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580376" y="18745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EE4F2"/>
          </a:solidFill>
          <a:ln w="13970">
            <a:solidFill>
              <a:srgbClr val="7B4F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90104" y="2121408"/>
            <a:ext cx="17007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Ranked list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B4F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 contrast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55480" y="2350008"/>
            <a:ext cx="201168" cy="0"/>
          </a:xfrm>
          <a:prstGeom prst="line">
            <a:avLst/>
          </a:prstGeom>
          <a:noFill/>
          <a:ln w="20320">
            <a:solidFill>
              <a:srgbClr val="6977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848088" y="18745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4E3BF"/>
          </a:solidFill>
          <a:ln w="13970">
            <a:solidFill>
              <a:srgbClr val="D69F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957816" y="2121408"/>
            <a:ext cx="17007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GSEA / ORA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69F3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predefined 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79476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124712" y="393192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Downstream 的標準原則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4343400"/>
            <a:ext cx="46085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GSEA / ORA 要接在正確的 coefficient 後面：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H3 interaction：用 interaction ranked list。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H4 compartment fibrosis：用各 compartment 的 fibrosis effect ranked list。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不用看結果後再換 gene set。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355080" y="3794760"/>
            <a:ext cx="4800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6CE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519672" y="393192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預設 gene set 方向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9672" y="4343400"/>
            <a:ext cx="44714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優先使用外部 predefined collections：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Reactome ECM organization、collagen formation、NABA matrisome、Hallmark TGF-beta。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Fibrosis genes 不手刻。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B94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2501</Words>
  <Application>Microsoft Office PowerPoint</Application>
  <PresentationFormat>寬螢幕</PresentationFormat>
  <Paragraphs>983</Paragraphs>
  <Slides>19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Helvetica Neue</vt:lpstr>
      <vt:lpstr>Noto Sans CJK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AML-TP53 fibrosis DSP analysis plan</dc:title>
  <dc:subject>AML-TP53 fibrosis DSP analysis plan</dc:subject>
  <dc:creator>OpenAI</dc:creator>
  <cp:lastModifiedBy>建嶔 林</cp:lastModifiedBy>
  <cp:revision>7</cp:revision>
  <dcterms:created xsi:type="dcterms:W3CDTF">2026-07-06T13:35:49Z</dcterms:created>
  <dcterms:modified xsi:type="dcterms:W3CDTF">2026-07-31T00:50:24Z</dcterms:modified>
</cp:coreProperties>
</file>